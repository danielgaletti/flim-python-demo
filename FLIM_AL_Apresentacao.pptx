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(3 manuais)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  <c:pt idx="3">
                    <c:v>K=15</c:v>
                  </c:pt>
                  <c:pt idx="4">
                    <c:v>K=20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0.698</c:v>
                </c:pt>
                <c:pt idx="1">
                  <c:v>0.698</c:v>
                </c:pt>
                <c:pt idx="2">
                  <c:v>0.698</c:v>
                </c:pt>
                <c:pt idx="3">
                  <c:v>0.698</c:v>
                </c:pt>
                <c:pt idx="4">
                  <c:v>0.698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 Entropy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  <c:pt idx="3">
                    <c:v>K=15</c:v>
                  </c:pt>
                  <c:pt idx="4">
                    <c:v>K=20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0.601</c:v>
                </c:pt>
                <c:pt idx="1">
                  <c:v>0.593</c:v>
                </c:pt>
                <c:pt idx="2">
                  <c:v>0.637</c:v>
                </c:pt>
                <c:pt idx="3">
                  <c:v>0.557</c:v>
                </c:pt>
                <c:pt idx="4">
                  <c:v>0.539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(avg 3 seeds)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  <c:pt idx="3">
                    <c:v>K=15</c:v>
                  </c:pt>
                  <c:pt idx="4">
                    <c:v>K=20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0.49</c:v>
                </c:pt>
                <c:pt idx="1">
                  <c:v>0.482</c:v>
                </c:pt>
                <c:pt idx="2">
                  <c:v>0.481</c:v>
                </c:pt>
                <c:pt idx="3">
                  <c:v>0.479</c:v>
                </c:pt>
                <c:pt idx="4">
                  <c:v>0.479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Seleção 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 ovos (selecionadas)</c:v>
                </c:pt>
                <c:pt idx="1">
                  <c:v>SEM ovos (ignoradas)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0.1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0FF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Seleção Random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FECAC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 ovos</c:v>
                </c:pt>
                <c:pt idx="1">
                  <c:v>SEM ovos (maioria)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</c:v>
                </c:pt>
                <c:pt idx="1">
                  <c:v>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0F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Split 1 — AL</c:v>
                </c:pt>
              </c:strCache>
            </c:strRef>
          </c:tx>
          <c:spPr>
            <a:solidFill>
              <a:srgbClr val="065A82"/>
            </a:solidFill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  <c:pt idx="3">
                    <c:v>K=15</c:v>
                  </c:pt>
                  <c:pt idx="4">
                    <c:v>K=20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0.634</c:v>
                </c:pt>
                <c:pt idx="1">
                  <c:v>0.64</c:v>
                </c:pt>
                <c:pt idx="2">
                  <c:v>0.695</c:v>
                </c:pt>
                <c:pt idx="3">
                  <c:v/>
                </c:pt>
                <c:pt idx="4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Split 2 — AL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  <c:pt idx="3">
                    <c:v>K=15</c:v>
                  </c:pt>
                  <c:pt idx="4">
                    <c:v>K=20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0.585</c:v>
                </c:pt>
                <c:pt idx="1">
                  <c:v>0.568</c:v>
                </c:pt>
                <c:pt idx="2">
                  <c:v>0.601</c:v>
                </c:pt>
                <c:pt idx="3">
                  <c:v>0.558</c:v>
                </c:pt>
                <c:pt idx="4">
                  <c:v>0.545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Split 3 — AL</c:v>
                </c:pt>
              </c:strCache>
            </c:strRef>
          </c:tx>
          <c:spPr>
            <a:solidFill>
              <a:srgbClr val="1A8F7A"/>
            </a:solidFill>
            <a:ln w="25400" cap="flat">
              <a:solidFill>
                <a:srgbClr val="1A8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8F7A"/>
              </a:solidFill>
              <a:ln w="9525" cap="flat">
                <a:solidFill>
                  <a:srgbClr val="1A8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  <c:pt idx="3">
                    <c:v>K=15</c:v>
                  </c:pt>
                  <c:pt idx="4">
                    <c:v>K=20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0.584</c:v>
                </c:pt>
                <c:pt idx="1">
                  <c:v>0.571</c:v>
                </c:pt>
                <c:pt idx="2">
                  <c:v>0.616</c:v>
                </c:pt>
                <c:pt idx="3">
                  <c:v>0.556</c:v>
                </c:pt>
                <c:pt idx="4">
                  <c:v>0.533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Random (média)</c:v>
                </c:pt>
              </c:strCache>
            </c:strRef>
          </c:tx>
          <c:spPr>
            <a:solidFill>
              <a:srgbClr val="E05252"/>
            </a:solidFill>
            <a:ln w="25400" cap="flat">
              <a:solidFill>
                <a:srgbClr val="E052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5252"/>
              </a:solidFill>
              <a:ln w="9525" cap="flat">
                <a:solidFill>
                  <a:srgbClr val="E052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K=3</c:v>
                  </c:pt>
                  <c:pt idx="1">
                    <c:v>K=5</c:v>
                  </c:pt>
                  <c:pt idx="2">
                    <c:v>K=10</c:v>
                  </c:pt>
                  <c:pt idx="3">
                    <c:v>K=15</c:v>
                  </c:pt>
                  <c:pt idx="4">
                    <c:v>K=20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0.49</c:v>
                </c:pt>
                <c:pt idx="1">
                  <c:v>0.482</c:v>
                </c:pt>
                <c:pt idx="2">
                  <c:v>0.481</c:v>
                </c:pt>
                <c:pt idx="3">
                  <c:v>0.479</c:v>
                </c:pt>
                <c:pt idx="4">
                  <c:v>0.479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8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 tema: aplicação de Active Learning para melhorar o treino do encoder FLIM na tarefa de segmentação de ovos de S. mansoni.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pipeline FLIM: treina encoder não-supervisionado com marcadores manuais em apenas 3 imagens. Depois, Dynamic Trees usa as saliency maps como sementes para crescer máscaras precisas sobre os ovos. O paper reporta Fβ=0.860.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reprodução usa o mesmo pipeline DT, mas com marcadores de qualidade diferente. O gap de 0.703 vs 0.860 é explicado pela baixa precisão do encoder em localizar ovos (IoU=0.24 médio).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as imagens reais. Caso bom: saliency ativa a região correta do ovo, DT refina e gera boa máscara. Caso ruim: encoder não detectou o ovo (saliency plana), DT não tem sementes úteis, máscara erra completamente. Este é o problema que o AL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AL usa a entropia das saliency maps para identificar quais imagens o encoder tem dificuldade. Imagens com ovos → alta incerteza → AL prioriza essas. Dataset desbalanceado: Random cai na armadilha das imagens vazias.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principal: AL supera Random em TODOS os 15 cenários testados. K=10 é o orçamento ótimo (Fβ=0.637). Baseline de 3 marcadores manuais ainda superior, mas AL com marcadores sintéticos chega próximo.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achado central: AL entropy corrige automaticamente o viés de classe. O pool tem 51.5% imagens sem ovos, Random cai na armadilha. AL seleciona 100% imagens com ovos porque o encoder é mais incerto nelas.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Comportamento não-monotônico do AL: melhora de K=3 a K=10, depois cai. Isso indica que há um ponto ótimo para a quantidade de markers sintéticos — muitos markers ruidosos diluem o sinal dos marcadores manuais originais.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próximos passos prioritários. O mais urgente é comparar com CoreSet (já implementado) e fazer análise qualitativa das imagens para a apresentação da dissertação.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fechamento. Resumir: AL bate Random em todos os cenários testados, o achado principal é o bias correction automático por entropia. K=10 é o ponto ótimo.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77240"/>
            <a:ext cx="3593592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MESTRADO EM CIÊNCIA DA COMPUTAÇÃO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para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do Encoder FLIM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Ovos de Schistosoma mansoni via Dynamic Trees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Galetti  ·  Julho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FLIM-AD: Pipeline do Paper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Imagens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 Marcadores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18872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118872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(k-means)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1A8F7A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18872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118872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1A8F7A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66360" y="118872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(DT)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18872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83080" y="173736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61848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173736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61848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173736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61848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173736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61848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514600"/>
            <a:ext cx="4114800" cy="1508760"/>
          </a:xfrm>
          <a:prstGeom prst="rect">
            <a:avLst/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587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do Paper (FLIM-AD, Bragantini et al.)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880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Fβ = 0.860</a:t>
            </a: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β² = 0.3  ·  User A Parasites  ·  Table III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4709160" y="2514600"/>
            <a:ext cx="4114800" cy="1508760"/>
          </a:xfrm>
          <a:prstGeom prst="rect">
            <a:avLst/>
          </a:prstGeom>
          <a:solidFill>
            <a:srgbClr val="FFF8F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2587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Fβ (β²=0.3)?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8803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Fβ = (1+β²)·P·R / (β²·P + R)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Mais peso em Precisão que Recall (β²&lt;1)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péssimo  ·  1 = perfeito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REPRODUÇÃO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Reprodução do Paper — Nossos Resultados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029200" cy="210312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463040"/>
                <a:gridCol w="11887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Fβ (com DT)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(com DT)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Fβ sem DT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1143000"/>
            <a:ext cx="3108960" cy="914400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2161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(FLIM-AD)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0" y="1463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Fβ = 0.860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715000" y="2194560"/>
            <a:ext cx="3108960" cy="91440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22677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Reprodução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52160" y="2514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Fβ = 0.703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57200" y="3383280"/>
            <a:ext cx="8321040" cy="1371600"/>
          </a:xfrm>
          <a:prstGeom prst="rect">
            <a:avLst/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" y="34564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gap (0.703 vs 0.860)?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37490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médio DT vs GT nas imagens com ovos: </a:t>
            </a:r>
            <a:pPr indent="0" marL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 (apenas 7/296 com IoU &gt; 0.5)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encoder baseline não localiza os ovos com precisão suficiente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 das imagens não têm ovos → Fβ inflado pelo acerto trivial (pred=0, GT=0)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provável: qualidade dos marcadores manuais do paper superior aos nossos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80744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SEGMENTAÇÃO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Reais: Saliency Maps e Máscaras DT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" y="987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Original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423160" y="987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(verde)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3440" y="987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FLIM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03720" y="987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 DT (vermelho)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126187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Boa detecção  (IoU=0.62)</a:t>
            </a:r>
            <a:endParaRPr lang="en-US" sz="1000" dirty="0"/>
          </a:p>
        </p:txBody>
      </p:sp>
      <p:pic>
        <p:nvPicPr>
          <p:cNvPr id="10" name="Image 0" descr="/sessions/sharp-relaxed-shannon/mnt/outputs/ex_001216_or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481328"/>
            <a:ext cx="2011680" cy="1325880"/>
          </a:xfrm>
          <a:prstGeom prst="rect">
            <a:avLst/>
          </a:prstGeom>
        </p:spPr>
      </p:pic>
      <p:pic>
        <p:nvPicPr>
          <p:cNvPr id="11" name="Image 1" descr="/sessions/sharp-relaxed-shannon/mnt/outputs/ex_001216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481328"/>
            <a:ext cx="2011680" cy="1325880"/>
          </a:xfrm>
          <a:prstGeom prst="rect">
            <a:avLst/>
          </a:prstGeom>
        </p:spPr>
      </p:pic>
      <p:pic>
        <p:nvPicPr>
          <p:cNvPr id="12" name="Image 2" descr="/sessions/sharp-relaxed-shannon/mnt/outputs/ex_001216_s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481328"/>
            <a:ext cx="2011680" cy="1325880"/>
          </a:xfrm>
          <a:prstGeom prst="rect">
            <a:avLst/>
          </a:prstGeom>
        </p:spPr>
      </p:pic>
      <p:pic>
        <p:nvPicPr>
          <p:cNvPr id="13" name="Image 3" descr="/sessions/sharp-relaxed-shannon/mnt/outputs/ex_001216_mask_goo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481328"/>
            <a:ext cx="2011680" cy="1325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2880" y="290779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Detecção falha  (IoU=0.00 — saliency não detectou o ovo)</a:t>
            </a:r>
            <a:endParaRPr lang="en-US" sz="1000" dirty="0"/>
          </a:p>
        </p:txBody>
      </p:sp>
      <p:pic>
        <p:nvPicPr>
          <p:cNvPr id="15" name="Image 4" descr="/sessions/sharp-relaxed-shannon/mnt/outputs/ex_001209_ori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127248"/>
            <a:ext cx="2011680" cy="1325880"/>
          </a:xfrm>
          <a:prstGeom prst="rect">
            <a:avLst/>
          </a:prstGeom>
        </p:spPr>
      </p:pic>
      <p:pic>
        <p:nvPicPr>
          <p:cNvPr id="16" name="Image 5" descr="/sessions/sharp-relaxed-shannon/mnt/outputs/ex_001209_g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160" y="3127248"/>
            <a:ext cx="2011680" cy="1325880"/>
          </a:xfrm>
          <a:prstGeom prst="rect">
            <a:avLst/>
          </a:prstGeom>
        </p:spPr>
      </p:pic>
      <p:pic>
        <p:nvPicPr>
          <p:cNvPr id="17" name="Image 6" descr="/sessions/sharp-relaxed-shannon/mnt/outputs/ex_001209_s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127248"/>
            <a:ext cx="2011680" cy="1325880"/>
          </a:xfrm>
          <a:prstGeom prst="rect">
            <a:avLst/>
          </a:prstGeom>
        </p:spPr>
      </p:pic>
      <p:pic>
        <p:nvPicPr>
          <p:cNvPr id="18" name="Image 7" descr="/sessions/sharp-relaxed-shannon/mnt/outputs/ex_001209_mask_ba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3127248"/>
            <a:ext cx="20116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81328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CONTRIBUIÇÃO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para Seleção de Imagens de Treino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114300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11430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(610 imgs)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14300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B45309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1430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(incerteza)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0" y="114300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A8F7A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11430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Selecionadas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14300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1430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Sintéticos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 GT)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16459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67128" y="15361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16459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15361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6459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15361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16459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04888" y="15361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Retreina Encoder → loop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651760"/>
            <a:ext cx="4114800" cy="2148840"/>
          </a:xfrm>
          <a:prstGeom prst="rect">
            <a:avLst/>
          </a:prstGeom>
          <a:solidFill>
            <a:srgbClr val="FFF8F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743200"/>
            <a:ext cx="2889504" cy="256032"/>
          </a:xfrm>
          <a:prstGeom prst="roundRect">
            <a:avLst>
              <a:gd name="adj" fmla="val 17857"/>
            </a:avLst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743200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PROBLEMA: DESBALANCEAMENTO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2999232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com 51.5% de imagens SEM ovos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Random seleciona principalmente vazias
→ encoder aprende só background
→ DT não cria máscaras
</a:t>
            </a:r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Fβ colapsa para 0.479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651760"/>
            <a:ext cx="4114800" cy="214884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743200"/>
            <a:ext cx="2185416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74320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SOLUÇÃO: ENTROPY 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0600" y="2999232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entropia = encoder incerto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Imagens com ovos → encoder inseguro
Imagens vazias → encoder confiante (baixa entropia)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seleciona 10/10 imagens com ovos!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RESULTADOS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vs Random vs Baseline — Fβ por Budget K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005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3 splits (labeled_marker + DT)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25880"/>
          <a:ext cx="2926080" cy="2560320"/>
        </p:xfrm>
        <a:graphic>
          <a:graphicData uri="http://schemas.openxmlformats.org/drawingml/2006/table">
            <a:tbl>
              <a:tblPr/>
              <a:tblGrid>
                <a:gridCol w="502920"/>
                <a:gridCol w="77724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3434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&gt; Random em 15/15 cenários  (3 splits × 5 budgets)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978408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ANÁLISE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AL Supera Random?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38328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Entropy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508760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651760" y="19202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COM ovos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(top-K por entropia)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148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incerto sobre regiões de ovos → alta entropia → selecionadas!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051560"/>
            <a:ext cx="4023360" cy="3383280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6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4709160" y="1508760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7040880" y="19202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0–1/10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COM ovos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(pool: 51.5% vazio)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80060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sintéticos de imagens vazias = só background → encoder colapsa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978408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ANÁLISE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por Budget K  —  Splits 1, 2, 3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05840"/>
            <a:ext cx="3017520" cy="1051560"/>
          </a:xfrm>
          <a:prstGeom prst="rect">
            <a:avLst/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K=10 é o ótimo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89320" y="135331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AL em todos os splits.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 depois, performance cai.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2194560"/>
            <a:ext cx="3017520" cy="1051560"/>
          </a:xfrm>
          <a:prstGeom prst="rect">
            <a:avLst/>
          </a:prstGeom>
          <a:solidFill>
            <a:srgbClr val="FFF8F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K&gt;10 degrada 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2542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sintéticos extras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introduzem ruído no k-means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encoder FLIM.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3383280"/>
            <a:ext cx="3017520" cy="1051560"/>
          </a:xfrm>
          <a:prstGeom prst="rect">
            <a:avLst/>
          </a:prstGeom>
          <a:solidFill>
            <a:srgbClr val="FFF0F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3456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é flat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89320" y="37307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Fβ≈0.479 constante.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de GT-vazias no val set.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(trivial: pred=0)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PRÓXIMOS PASSOS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para Fechar a Contribuição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600200"/>
          </a:xfrm>
          <a:prstGeom prst="rect">
            <a:avLst/>
          </a:prstGeom>
          <a:solidFill>
            <a:srgbClr val="F0F9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CoreSet 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implementado em coreset_badge.py.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entropy vs CoreSet no mesmo benchmark.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Coreset seleciona imagens diversas no espaço de features.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4206240" cy="1600200"/>
          </a:xfrm>
          <a:prstGeom prst="rect">
            <a:avLst/>
          </a:prstGeom>
          <a:solidFill>
            <a:srgbClr val="FFF8F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971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Qualitativa Visual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3832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imagens das máscaras DT dos encoders AL vs Random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conjunto. Ilustrar a diferença na detecção.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206240" cy="1600200"/>
          </a:xfrm>
          <a:prstGeom prst="rect">
            <a:avLst/>
          </a:prstGeom>
          <a:solidFill>
            <a:srgbClr val="F0FF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11887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Markers Sintéticos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6002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random sampling da GT mask,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skeleton/centróide do ovo como seeds.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ruído nos markers automáticos.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206240" cy="1600200"/>
          </a:xfrm>
          <a:prstGeom prst="rect">
            <a:avLst/>
          </a:prstGeom>
          <a:solidFill>
            <a:srgbClr val="F8F0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2971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Gap com Paper (0.703 vs 0.860)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33832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marcadores manuais do paper vs automáticos.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 parâmetros DT diferentes.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achado importante para a dissertação.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179576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CONCLUSÃO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Contribuição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1554480"/>
          </a:xfrm>
          <a:prstGeom prst="rect">
            <a:avLst/>
          </a:prstGeom>
          <a:solidFill>
            <a:srgbClr val="0F34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25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AL &gt; Random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splits × 5 budgets)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1554480"/>
          </a:xfrm>
          <a:prstGeom prst="rect">
            <a:avLst/>
          </a:prstGeom>
          <a:solidFill>
            <a:srgbClr val="0F34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325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Fβ 0.637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AL (K=10)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0.481 random (+0.157)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51760" cy="1554480"/>
          </a:xfrm>
          <a:prstGeom prst="rect">
            <a:avLst/>
          </a:prstGeom>
          <a:solidFill>
            <a:srgbClr val="0F346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325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com ovos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selecionadas (vs 0–10% random)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Entropy-based Active Learning corrige automaticamente o viés de classe do dataset (51.5% imagens vazias), selecionando as imagens mais informativas para treino do encoder FLIM. Com K=10 imagens e markers sintéticos, o método atinge 92% do desempenho do baseline manual.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Learning para FLIM-AD — Segmentação de S. mansoni</dc:title>
  <dc:subject>PptxGenJS Presentation</dc:subject>
  <dc:creator>PptxGenJS</dc:creator>
  <cp:lastModifiedBy>PptxGenJS</cp:lastModifiedBy>
  <cp:revision>1</cp:revision>
  <dcterms:created xsi:type="dcterms:W3CDTF">2026-07-08T18:05:55Z</dcterms:created>
  <dcterms:modified xsi:type="dcterms:W3CDTF">2026-07-08T18:05:55Z</dcterms:modified>
</cp:coreProperties>
</file>