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(3 manuais)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0.698</c:v>
                </c:pt>
                <c:pt idx="1">
                  <c:v>0.698</c:v>
                </c:pt>
                <c:pt idx="2">
                  <c:v>0.698</c:v>
                </c:pt>
                <c:pt idx="3">
                  <c:v>0.698</c:v>
                </c:pt>
                <c:pt idx="4">
                  <c:v>0.698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Entropy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0.601</c:v>
                </c:pt>
                <c:pt idx="1">
                  <c:v>0.593</c:v>
                </c:pt>
                <c:pt idx="2">
                  <c:v>0.637</c:v>
                </c:pt>
                <c:pt idx="3">
                  <c:v>0.557</c:v>
                </c:pt>
                <c:pt idx="4">
                  <c:v>0.539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 (avg 3 seeds)</c:v>
                </c:pt>
              </c:strCache>
            </c:strRef>
          </c:tx>
          <c:spPr>
            <a:solidFill>
              <a:srgbClr val="E052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0.49</c:v>
                </c:pt>
                <c:pt idx="1">
                  <c:v>0.482</c:v>
                </c:pt>
                <c:pt idx="2">
                  <c:v>0.481</c:v>
                </c:pt>
                <c:pt idx="3">
                  <c:v>0.479</c:v>
                </c:pt>
                <c:pt idx="4">
                  <c:v>0.479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3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Seleção 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 ovos (selecionadas)</c:v>
                </c:pt>
                <c:pt idx="1">
                  <c:v>SEM ovos (ignoradas)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0.1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solidFill>
      <a:srgbClr val="F0FFF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Seleção Random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bubble3D val="0"/>
            <c:spPr>
              <a:solidFill>
                <a:srgbClr val="FECAC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 ovos</c:v>
                </c:pt>
                <c:pt idx="1">
                  <c:v>SEM ovos (maioria)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</c:v>
                </c:pt>
                <c:pt idx="1">
                  <c:v>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solidFill>
      <a:srgbClr val="FFF0F0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Split 1 — AL</c:v>
                </c:pt>
              </c:strCache>
            </c:strRef>
          </c:tx>
          <c:spPr>
            <a:solidFill>
              <a:srgbClr val="065A82"/>
            </a:solidFill>
            <a:ln w="25400" cap="flat">
              <a:solidFill>
                <a:srgbClr val="065A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0.634</c:v>
                </c:pt>
                <c:pt idx="1">
                  <c:v>0.64</c:v>
                </c:pt>
                <c:pt idx="2">
                  <c:v>0.695</c:v>
                </c:pt>
                <c:pt idx="3">
                  <c:v/>
                </c:pt>
                <c:pt idx="4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Split 2 — AL</c:v>
                </c:pt>
              </c:strCache>
            </c:strRef>
          </c:tx>
          <c:spPr>
            <a:solidFill>
              <a:srgbClr val="1C7293"/>
            </a:solidFill>
            <a:ln w="254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0.585</c:v>
                </c:pt>
                <c:pt idx="1">
                  <c:v>0.568</c:v>
                </c:pt>
                <c:pt idx="2">
                  <c:v>0.601</c:v>
                </c:pt>
                <c:pt idx="3">
                  <c:v>0.558</c:v>
                </c:pt>
                <c:pt idx="4">
                  <c:v>0.545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Split 3 — AL</c:v>
                </c:pt>
              </c:strCache>
            </c:strRef>
          </c:tx>
          <c:spPr>
            <a:solidFill>
              <a:srgbClr val="1A8F7A"/>
            </a:solidFill>
            <a:ln w="25400" cap="flat">
              <a:solidFill>
                <a:srgbClr val="1A8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8F7A"/>
              </a:solidFill>
              <a:ln w="9525" cap="flat">
                <a:solidFill>
                  <a:srgbClr val="1A8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0.584</c:v>
                </c:pt>
                <c:pt idx="1">
                  <c:v>0.571</c:v>
                </c:pt>
                <c:pt idx="2">
                  <c:v>0.616</c:v>
                </c:pt>
                <c:pt idx="3">
                  <c:v>0.556</c:v>
                </c:pt>
                <c:pt idx="4">
                  <c:v>0.533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Random (média)</c:v>
                </c:pt>
              </c:strCache>
            </c:strRef>
          </c:tx>
          <c:spPr>
            <a:solidFill>
              <a:srgbClr val="E05252"/>
            </a:solidFill>
            <a:ln w="25400" cap="flat">
              <a:solidFill>
                <a:srgbClr val="E052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5252"/>
              </a:solidFill>
              <a:ln w="9525" cap="flat">
                <a:solidFill>
                  <a:srgbClr val="E052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K=3</c:v>
                  </c:pt>
                  <c:pt idx="1">
                    <c:v>K=5</c:v>
                  </c:pt>
                  <c:pt idx="2">
                    <c:v>K=10</c:v>
                  </c:pt>
                  <c:pt idx="3">
                    <c:v>K=15</c:v>
                  </c:pt>
                  <c:pt idx="4">
                    <c:v>K=20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0.49</c:v>
                </c:pt>
                <c:pt idx="1">
                  <c:v>0.482</c:v>
                </c:pt>
                <c:pt idx="2">
                  <c:v>0.481</c:v>
                </c:pt>
                <c:pt idx="3">
                  <c:v>0.479</c:v>
                </c:pt>
                <c:pt idx="4">
                  <c:v>0.479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Apresentar o tema: aplicação de Active Learning para melhorar o treino do encoder FLIM na tarefa de segmentação de ovos de S. mansoni.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pipeline FLIM: treina encoder não-supervisionado com marcadores manuais em apenas 3 imagens. Depois, Dynamic Trees usa as saliency maps como sementes para crescer máscaras precisas sobre os ovos. O paper reporta Fβ=0.860.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Nossa reprodução usa o mesmo pipeline DT, mas com marcadores de qualidade diferente. O gap de 0.703 vs 0.860 é explicado pela baixa precisão do encoder em localizar ovos (IoU=0.24 médio).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as imagens reais. Caso bom: saliency ativa a região correta do ovo, DT refina e gera boa máscara. Caso ruim: encoder não detectou o ovo (saliency plana), DT não tem sementes úteis, máscara erra completamente. Este é o problema que o AL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 usa a entropia das saliency maps para identificar quais imagens o encoder tem dificuldade. Imagens com ovos → alta incerteza → AL prioriza essas. Dataset desbalanceado: Random cai na armadilha das imagens vazias.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principal: AL supera Random em TODOS os 15 cenários testados. K=10 é o orçamento ótimo (Fβ=0.637). Baseline de 3 marcadores manuais ainda superior, mas AL com marcadores sintéticos chega próximo.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achado central: AL entropy corrige automaticamente o viés de classe. O pool tem 51.5% imagens sem ovos, Random cai na armadilha. AL seleciona 100% imagens com ovos porque o encoder é mais incerto nelas.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Comportamento não-monotônico do AL: melhora de K=3 a K=10, depois cai. Isso indica que há um ponto ótimo para a quantidade de markers sintéticos — muitos markers ruidosos diluem o sinal dos marcadores manuais originais.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próximos passos prioritários. O mais urgente é comparar com CoreSet (já implementado) e fazer análise qualitativa das imagens para a apresentação da dissertação.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fechamento. Resumir: AL bate Random em todos os cenários testados, o achado principal é o bias correction automático por entropia. K=10 é o ponto ótimo.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71A2E"/>
          </a:solidFill>
          <a:ln w="12700">
            <a:solidFill>
              <a:srgbClr val="071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325880"/>
            <a:ext cx="10972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777240"/>
            <a:ext cx="3593592" cy="256032"/>
          </a:xfrm>
          <a:prstGeom prst="roundRect">
            <a:avLst>
              <a:gd name="adj" fmla="val 17857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77240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MESTRADO EM CIÊNCIA DA COMPUTAÇÃO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 para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do Encoder FLIM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Ovos de Schistosoma mansoni via Dynamic Trees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Galetti  ·  Julho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BACKGROUND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FLIM-AD: Pipeline do Paper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417320" cy="109728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1887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Imagens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 Marcadores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Manuais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1188720"/>
            <a:ext cx="1417320" cy="1097280"/>
          </a:xfrm>
          <a:prstGeom prst="roundRect">
            <a:avLst>
              <a:gd name="adj" fmla="val 833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65960" y="11887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(k-means)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188720"/>
            <a:ext cx="1417320" cy="1097280"/>
          </a:xfrm>
          <a:prstGeom prst="roundRect">
            <a:avLst>
              <a:gd name="adj" fmla="val 8333"/>
            </a:avLst>
          </a:prstGeom>
          <a:solidFill>
            <a:srgbClr val="1A8F7A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66160" y="11887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Saliency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66360" y="1188720"/>
            <a:ext cx="1417320" cy="1097280"/>
          </a:xfrm>
          <a:prstGeom prst="roundRect">
            <a:avLst>
              <a:gd name="adj" fmla="val 8333"/>
            </a:avLst>
          </a:prstGeom>
          <a:solidFill>
            <a:srgbClr val="1A8F7A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66360" y="11887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(DT)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188720"/>
            <a:ext cx="1417320" cy="1097280"/>
          </a:xfrm>
          <a:prstGeom prst="roundRect">
            <a:avLst>
              <a:gd name="adj" fmla="val 8333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0" y="11887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783080" y="173736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161848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83280" y="173736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161848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83480" y="173736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161848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0" y="173736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161848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2514600"/>
            <a:ext cx="4114800" cy="1508760"/>
          </a:xfrm>
          <a:prstGeom prst="rect">
            <a:avLst/>
          </a:prstGeom>
          <a:solidFill>
            <a:srgbClr val="F0F9FB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25877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do Paper (FLIM-AD, Bragantini et al.)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2880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= 0.860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β² = 0.3  ·  User A Parasites  ·  Table III</a:t>
            </a:r>
            <a:endParaRPr lang="en-US" sz="3200" dirty="0"/>
          </a:p>
        </p:txBody>
      </p:sp>
      <p:sp>
        <p:nvSpPr>
          <p:cNvPr id="26" name="Shape 24"/>
          <p:cNvSpPr/>
          <p:nvPr/>
        </p:nvSpPr>
        <p:spPr>
          <a:xfrm>
            <a:off x="4709160" y="2514600"/>
            <a:ext cx="4114800" cy="1508760"/>
          </a:xfrm>
          <a:prstGeom prst="rect">
            <a:avLst/>
          </a:prstGeom>
          <a:solidFill>
            <a:srgbClr val="FFF8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0" y="25877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Fβ (β²=0.3)?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880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= (1+β²)·P·R / (β²·P + R)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Mais peso em Precisão que Recall (β²&lt;1)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péssimo  ·  1 = perfeito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REPRODUÇÃO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Reprodução do Paper — Nossos Resultados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029200" cy="210312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463040"/>
                <a:gridCol w="118872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Fβ (com DT)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(com DT)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Fβ sem DT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52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715000" y="1143000"/>
            <a:ext cx="3108960" cy="914400"/>
          </a:xfrm>
          <a:prstGeom prst="rect">
            <a:avLst/>
          </a:prstGeom>
          <a:solidFill>
            <a:srgbClr val="FFF0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52160" y="121615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(FLIM-AD)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= 0.860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715000" y="2194560"/>
            <a:ext cx="3108960" cy="914400"/>
          </a:xfrm>
          <a:prstGeom prst="rect">
            <a:avLst/>
          </a:prstGeom>
          <a:solidFill>
            <a:srgbClr val="F0FFF8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52160" y="22677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Reprodução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52160" y="25146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= 0.703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8321040" cy="1371600"/>
          </a:xfrm>
          <a:prstGeom prst="rect">
            <a:avLst/>
          </a:prstGeom>
          <a:solidFill>
            <a:srgbClr val="F0F9FB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94360" y="3456432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gap (0.703 vs 0.860)?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374904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médio DT vs GT nas imagens com ovos: </a:t>
            </a:r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 (apenas 7/296 com IoU &gt; 0.5)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encoder baseline não localiza os ovos com precisão suficiente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das imagens não têm ovos → Fβ inflado pelo acerto trivial (pred=0, GT=0)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provável: qualidade dos marcadores manuais do paper superior aos nossos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380744" cy="256032"/>
          </a:xfrm>
          <a:prstGeom prst="roundRect">
            <a:avLst>
              <a:gd name="adj" fmla="val 17857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SEGMENTAÇÃO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Reais: Saliency Maps e Máscaras DT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8288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42316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(verde)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6344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Saliency FLIM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0372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 DT (vermelho)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82880" y="1261872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Boa detecção  (IoU=0.62)</a:t>
            </a:r>
            <a:endParaRPr lang="en-US" sz="1000" dirty="0"/>
          </a:p>
        </p:txBody>
      </p:sp>
      <p:pic>
        <p:nvPicPr>
          <p:cNvPr id="10" name="Image 0" descr="/sessions/sharp-relaxed-shannon/mnt/outputs/ex_001216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481328"/>
            <a:ext cx="2011680" cy="1325880"/>
          </a:xfrm>
          <a:prstGeom prst="rect">
            <a:avLst/>
          </a:prstGeom>
        </p:spPr>
      </p:pic>
      <p:pic>
        <p:nvPicPr>
          <p:cNvPr id="11" name="Image 1" descr="/sessions/sharp-relaxed-shannon/mnt/outputs/ex_001216_g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481328"/>
            <a:ext cx="2011680" cy="1325880"/>
          </a:xfrm>
          <a:prstGeom prst="rect">
            <a:avLst/>
          </a:prstGeom>
        </p:spPr>
      </p:pic>
      <p:pic>
        <p:nvPicPr>
          <p:cNvPr id="12" name="Image 2" descr="/sessions/sharp-relaxed-shannon/mnt/outputs/ex_001216_s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2011680" cy="1325880"/>
          </a:xfrm>
          <a:prstGeom prst="rect">
            <a:avLst/>
          </a:prstGeom>
        </p:spPr>
      </p:pic>
      <p:pic>
        <p:nvPicPr>
          <p:cNvPr id="13" name="Image 3" descr="/sessions/sharp-relaxed-shannon/mnt/outputs/ex_001216_mask_g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481328"/>
            <a:ext cx="2011680" cy="13258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82880" y="2907792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Detecção falha  (IoU=0.00 — saliency não detectou o ovo)</a:t>
            </a:r>
            <a:endParaRPr lang="en-US" sz="1000" dirty="0"/>
          </a:p>
        </p:txBody>
      </p:sp>
      <p:pic>
        <p:nvPicPr>
          <p:cNvPr id="15" name="Image 4" descr="/sessions/sharp-relaxed-shannon/mnt/outputs/ex_001209_ori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3127248"/>
            <a:ext cx="2011680" cy="1325880"/>
          </a:xfrm>
          <a:prstGeom prst="rect">
            <a:avLst/>
          </a:prstGeom>
        </p:spPr>
      </p:pic>
      <p:pic>
        <p:nvPicPr>
          <p:cNvPr id="16" name="Image 5" descr="/sessions/sharp-relaxed-shannon/mnt/outputs/ex_001209_g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3127248"/>
            <a:ext cx="2011680" cy="1325880"/>
          </a:xfrm>
          <a:prstGeom prst="rect">
            <a:avLst/>
          </a:prstGeom>
        </p:spPr>
      </p:pic>
      <p:pic>
        <p:nvPicPr>
          <p:cNvPr id="17" name="Image 6" descr="/sessions/sharp-relaxed-shannon/mnt/outputs/ex_001209_s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127248"/>
            <a:ext cx="2011680" cy="1325880"/>
          </a:xfrm>
          <a:prstGeom prst="rect">
            <a:avLst/>
          </a:prstGeom>
        </p:spPr>
      </p:pic>
      <p:pic>
        <p:nvPicPr>
          <p:cNvPr id="18" name="Image 7" descr="/sessions/sharp-relaxed-shannon/mnt/outputs/ex_001209_mask_ba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3127248"/>
            <a:ext cx="20116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81328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CONTRIBUIÇÃO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 para Seleção de Imagens de Treino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4300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20240" y="114300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20240" y="114300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Saliency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(610 imgs)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114300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B45309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66160" y="114300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(incerteza)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12080" y="114300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1A8F7A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0" y="114300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Selecionadas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114300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114300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 GT)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37360" y="16459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67128" y="1536192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83280" y="16459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13048" y="1536192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16459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58968" y="1536192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75120" y="16459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04888" y="1536192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2286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Retreina Encoder → loop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2651760"/>
            <a:ext cx="4114800" cy="2148840"/>
          </a:xfrm>
          <a:prstGeom prst="rect">
            <a:avLst/>
          </a:prstGeom>
          <a:solidFill>
            <a:srgbClr val="FFF8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11480" y="2743200"/>
            <a:ext cx="2889504" cy="256032"/>
          </a:xfrm>
          <a:prstGeom prst="roundRect">
            <a:avLst>
              <a:gd name="adj" fmla="val 17857"/>
            </a:avLst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2743200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PROBLEMA: DESBALANCEAMENTO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1480" y="2999232"/>
            <a:ext cx="38404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com 51.5% de imagens SEM ovos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Random seleciona principalmente vazias
→ encoder aprende só background
→ DT não cria máscaras
</a:t>
            </a:r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colapsa para 0.479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2651760"/>
            <a:ext cx="4114800" cy="2148840"/>
          </a:xfrm>
          <a:prstGeom prst="rect">
            <a:avLst/>
          </a:prstGeom>
          <a:solidFill>
            <a:srgbClr val="F0FFF8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0600" y="2743200"/>
            <a:ext cx="2185416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743200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SOLUÇÃO: ENTROPY 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00600" y="2999232"/>
            <a:ext cx="38404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entropia = encoder incerto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Imagens com ovos → encoder inseguro
Imagens vazias → encoder confiante (baixa entropia)
</a:t>
            </a:r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seleciona 10/10 imagens com ovos!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RESULTADOS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vs Random vs Baseline — Fβ por Budget K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00584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035040" y="10058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3 splits (labeled_marker + DT)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25880"/>
          <a:ext cx="2926080" cy="2560320"/>
        </p:xfrm>
        <a:graphic>
          <a:graphicData uri="http://schemas.openxmlformats.org/drawingml/2006/table">
            <a:tbl>
              <a:tblPr/>
              <a:tblGrid>
                <a:gridCol w="502920"/>
                <a:gridCol w="77724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43434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&gt; Random em 15/15 cenários  (3 splits × 5 budgets)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978408" cy="256032"/>
          </a:xfrm>
          <a:prstGeom prst="roundRect">
            <a:avLst>
              <a:gd name="adj" fmla="val 17857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ANÁLISE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AL Supera Random?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023360" cy="3383280"/>
          </a:xfrm>
          <a:prstGeom prst="rect">
            <a:avLst/>
          </a:prstGeom>
          <a:solidFill>
            <a:srgbClr val="F0FFF8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Entropy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508760"/>
          <a:ext cx="2286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651760" y="192024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COM ovos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(top-K por entropia)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39319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incerto sobre regiões de ovos → alta entropia → selecionadas!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4023360" cy="3383280"/>
          </a:xfrm>
          <a:prstGeom prst="rect">
            <a:avLst/>
          </a:prstGeom>
          <a:solidFill>
            <a:srgbClr val="FFF0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0060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6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709160" y="1508760"/>
          <a:ext cx="2286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7040880" y="192024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0–1/10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COM ovos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(pool: 51.5% vazio)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800600" y="39319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 sintéticos de imagens vazias = só background → encoder colapsa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978408" cy="256032"/>
          </a:xfrm>
          <a:prstGeom prst="roundRect">
            <a:avLst>
              <a:gd name="adj" fmla="val 17857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ANÁLISE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por Budget K  —  Splits 1, 2, 3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00584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005840"/>
            <a:ext cx="3017520" cy="1051560"/>
          </a:xfrm>
          <a:prstGeom prst="rect">
            <a:avLst/>
          </a:prstGeom>
          <a:solidFill>
            <a:srgbClr val="F0F9FB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89320" y="1078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K=10 é o ótimo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89320" y="135331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AL em todos os splits.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e depois, performance cai.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2194560"/>
            <a:ext cx="3017520" cy="1051560"/>
          </a:xfrm>
          <a:prstGeom prst="rect">
            <a:avLst/>
          </a:prstGeom>
          <a:solidFill>
            <a:srgbClr val="FFF8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89320" y="2267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K&gt;10 degrada 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89320" y="254203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 sintéticos extras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introduzem ruído no k-means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encoder FLIM.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3383280"/>
            <a:ext cx="3017520" cy="1051560"/>
          </a:xfrm>
          <a:prstGeom prst="rect">
            <a:avLst/>
          </a:prstGeom>
          <a:solidFill>
            <a:srgbClr val="FFF0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989320" y="3456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é flat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89320" y="373075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Fβ≈0.479 constante.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Fração de GT-vazias no val set.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(trivial: pred=0)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783080" cy="256032"/>
          </a:xfrm>
          <a:prstGeom prst="roundRect">
            <a:avLst>
              <a:gd name="adj" fmla="val 17857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PRÓXIMOS PASSOS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para Fechar a Contribuição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206240" cy="1600200"/>
          </a:xfrm>
          <a:prstGeom prst="rect">
            <a:avLst/>
          </a:prstGeom>
          <a:solidFill>
            <a:srgbClr val="F0F9FB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com CoreSet 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002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implementado em coreset_badge.py.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entropy vs CoreSet no mesmo benchmark.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Coreset seleciona imagens diversas no espaço de features.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834640"/>
            <a:ext cx="4206240" cy="1600200"/>
          </a:xfrm>
          <a:prstGeom prst="rect">
            <a:avLst/>
          </a:prstGeom>
          <a:solidFill>
            <a:srgbClr val="FFF8F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971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297180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Qualitativa Visual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38328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imagens das máscaras DT dos encoders AL vs Random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conjunto. Ilustrar a diferença na detecção.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051560"/>
            <a:ext cx="4206240" cy="1600200"/>
          </a:xfrm>
          <a:prstGeom prst="rect">
            <a:avLst/>
          </a:prstGeom>
          <a:solidFill>
            <a:srgbClr val="F0FFF8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060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94960" y="118872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Melhorar Markers Sintéticos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16002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random sampling da GT mask,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skeleton/centróide do ovo como seeds.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ruído nos markers automáticos.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2834640"/>
            <a:ext cx="4206240" cy="1600200"/>
          </a:xfrm>
          <a:prstGeom prst="rect">
            <a:avLst/>
          </a:prstGeom>
          <a:solidFill>
            <a:srgbClr val="F8F0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2971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94960" y="297180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Gap com Paper (0.703 vs 0.860)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94960" y="338328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marcadores manuais do paper vs automáticos.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parâmetros DT diferentes.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Possível achado importante para a dissertação.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9144000" cy="1943100"/>
          </a:xfrm>
          <a:prstGeom prst="rect">
            <a:avLst/>
          </a:prstGeom>
          <a:solidFill>
            <a:srgbClr val="071A2E"/>
          </a:solidFill>
          <a:ln w="12700">
            <a:solidFill>
              <a:srgbClr val="071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74320"/>
            <a:ext cx="1179576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CONCLUSÃO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 Contribuição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51760" cy="1554480"/>
          </a:xfrm>
          <a:prstGeom prst="rect">
            <a:avLst/>
          </a:prstGeom>
          <a:solidFill>
            <a:srgbClr val="0F346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325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AL &gt; Random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splits × 5 budgets)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651760" cy="1554480"/>
          </a:xfrm>
          <a:prstGeom prst="rect">
            <a:avLst/>
          </a:prstGeom>
          <a:solidFill>
            <a:srgbClr val="0F346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325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Fβ 0.637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4612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AL (K=10)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22860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0.481 random (+0.157)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234440"/>
            <a:ext cx="2651760" cy="1554480"/>
          </a:xfrm>
          <a:prstGeom prst="rect">
            <a:avLst/>
          </a:prstGeom>
          <a:solidFill>
            <a:srgbClr val="0F3460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325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com ovos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22860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selecionadas (vs 0–10% random)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32918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Active Learning corrige automaticamente o viés de classe do dataset (51.5% imagens vazias), selecionando as imagens mais informativas para treino do encoder FLIM. Com K=10 imagens e markers sintéticos, o método atinge 92% do desempenho do baseline manual.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3657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9E795"/>
                </a:solidFill>
              </a:rPr>
              <a:t>CONTRIBUIÇÃO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9728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Comparação de Acquisition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45566"/>
                </a:solidFill>
              </a:rPr>
              <a:t>Splits 1–3 | K = 3, 5, 10 | Decoder: labeled_marker | Avaliação: Dynamic Trees (Fβ, β²=0.3)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233172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0584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Método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960120"/>
            <a:ext cx="1463039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79" y="1005840"/>
            <a:ext cx="141731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AL Fβ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960120"/>
            <a:ext cx="128016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1005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Random Fβ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960120"/>
            <a:ext cx="128016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59" y="1005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Δ(AL−Rand)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960120"/>
            <a:ext cx="160020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59" y="1005840"/>
            <a:ext cx="1554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1371600"/>
            <a:ext cx="2331720" cy="365760"/>
          </a:xfrm>
          <a:prstGeom prst="rect">
            <a:avLst/>
          </a:prstGeom>
          <a:solidFill>
            <a:srgbClr val="E8F8F9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141732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28090"/>
                </a:solidFill>
              </a:rPr>
              <a:t>Entropy H(p)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371600"/>
            <a:ext cx="1463039" cy="365760"/>
          </a:xfrm>
          <a:prstGeom prst="rect">
            <a:avLst/>
          </a:prstGeom>
          <a:solidFill>
            <a:srgbClr val="E8F8F9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79" y="1417320"/>
            <a:ext cx="141731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445566"/>
                </a:solidFill>
              </a:rPr>
              <a:t>0.627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371600"/>
            <a:ext cx="1280160" cy="365760"/>
          </a:xfrm>
          <a:prstGeom prst="rect">
            <a:avLst/>
          </a:prstGeom>
          <a:solidFill>
            <a:srgbClr val="E8F8F9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59" y="141732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445566"/>
                </a:solidFill>
              </a:rPr>
              <a:t>0.488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1371600"/>
            <a:ext cx="1280160" cy="365760"/>
          </a:xfrm>
          <a:prstGeom prst="rect">
            <a:avLst/>
          </a:prstGeom>
          <a:solidFill>
            <a:srgbClr val="E8F8F9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141732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28090"/>
                </a:solidFill>
              </a:rPr>
              <a:t>+0.139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1371600"/>
            <a:ext cx="1600200" cy="365760"/>
          </a:xfrm>
          <a:prstGeom prst="rect">
            <a:avLst/>
          </a:prstGeom>
          <a:solidFill>
            <a:srgbClr val="E8F8F9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1417320"/>
            <a:ext cx="1554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28090"/>
                </a:solidFill>
              </a:rPr>
              <a:t>✅ Funciona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1783080"/>
            <a:ext cx="233172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182880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Least Confidence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1783080"/>
            <a:ext cx="1463039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97479" y="1828800"/>
            <a:ext cx="141731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45566"/>
                </a:solidFill>
              </a:rPr>
              <a:t>0.485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1783080"/>
            <a:ext cx="128016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59" y="182880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45566"/>
                </a:solidFill>
              </a:rPr>
              <a:t>0.487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1783080"/>
            <a:ext cx="128016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59" y="182880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−0.002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1783080"/>
            <a:ext cx="160020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59" y="1828800"/>
            <a:ext cx="1554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❌ Colapsa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2194560"/>
            <a:ext cx="233172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224028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Margin Sampling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194560"/>
            <a:ext cx="1463039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97479" y="2240280"/>
            <a:ext cx="141731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45566"/>
                </a:solidFill>
              </a:rPr>
              <a:t>0.479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2194560"/>
            <a:ext cx="128016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59" y="224028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45566"/>
                </a:solidFill>
              </a:rPr>
              <a:t>0.485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2194560"/>
            <a:ext cx="128016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23559" y="224028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−0.006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2194560"/>
            <a:ext cx="1600200" cy="365760"/>
          </a:xfrm>
          <a:prstGeom prst="rect">
            <a:avLst/>
          </a:prstGeom>
          <a:solidFill>
            <a:srgbClr val="FAEBEB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2240280"/>
            <a:ext cx="1554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DC3C3C"/>
                </a:solidFill>
              </a:rPr>
              <a:t>❌ Colapsa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2788920"/>
            <a:ext cx="8595360" cy="502920"/>
          </a:xfrm>
          <a:prstGeom prst="rect">
            <a:avLst/>
          </a:prstGeom>
          <a:solidFill>
            <a:srgbClr val="E0F5F7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2852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0D1B3E"/>
                </a:solidFill>
              </a:rPr>
              <a:t>Baseline manual (3 imagens): Fβ = 0.698   |   Entropy AL (K=10): Fβ = 0.735 (split 2) — supera o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3429000"/>
            <a:ext cx="4114800" cy="1371600"/>
          </a:xfrm>
          <a:prstGeom prst="rect">
            <a:avLst/>
          </a:prstGeom>
          <a:solidFill>
            <a:srgbClr val="FDF0F0"/>
          </a:solidFill>
          <a:ln w="127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34564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DC3C3C"/>
                </a:solidFill>
              </a:rPr>
              <a:t>Por que LC ≡ Margin?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3703320"/>
            <a:ext cx="3840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Para classificação binária, as fórmulas são matematicamente idênticas:
  Margin = 1 − |2p − 1|
  LC      = 1 − 2|p − 0.5|
Ambas selecionam as mesmas imagens em todos os splits.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3429000"/>
            <a:ext cx="4251960" cy="1371600"/>
          </a:xfrm>
          <a:prstGeom prst="rect">
            <a:avLst/>
          </a:prstGeom>
          <a:solidFill>
            <a:srgbClr val="F0F8F0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3456432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28090"/>
                </a:solidFill>
              </a:rPr>
              <a:t>Por que Entropy funciona?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63440" y="370332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Saliency maps FLIM são bimodais: pixels em 0 (fundo) ou em 1 (ovo). Entropy H(p) detecta imagens com ovos claros. Margin detecta imagens com saliency difuso — encoder globalmente confuso, sem ovos úteis para treino.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3657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9E795"/>
                </a:solidFill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9728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Quais Imagens Cada Método Selecionou — Split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21792"/>
            <a:ext cx="4160520" cy="320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ENTROPY — top-3: 000002, 000003, 000004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621792"/>
            <a:ext cx="4160520" cy="3200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640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MARGIN/LC — top-3: 001077, 000513, 000218</a:t>
            </a:r>
          </a:p>
        </p:txBody>
      </p:sp>
      <p:pic>
        <p:nvPicPr>
          <p:cNvPr id="9" name="Picture 8" descr="composite_entr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87552"/>
            <a:ext cx="4160520" cy="1920240"/>
          </a:xfrm>
          <a:prstGeom prst="rect">
            <a:avLst/>
          </a:prstGeom>
        </p:spPr>
      </p:pic>
      <p:pic>
        <p:nvPicPr>
          <p:cNvPr id="10" name="Picture 9" descr="composite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987552"/>
            <a:ext cx="416052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" y="2944368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↑ Imagem original       ↑ Saliency map (azul=fundo, vermelho=ovo detectado)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" y="3246120"/>
            <a:ext cx="4160520" cy="1508760"/>
          </a:xfrm>
          <a:prstGeom prst="rect">
            <a:avLst/>
          </a:prstGeom>
          <a:solidFill>
            <a:srgbClr val="E8F8F9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3273552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28090"/>
                </a:solidFill>
              </a:rPr>
              <a:t>✅ Entropy seleciona imagens EGG-POSITIVE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" y="3566160"/>
            <a:ext cx="39319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• 000002: 2 ovos visíveis, saliency esparso e limpo
• 000003: ovo grande detectado com precisão
• 000004: múltiplos ovos, fronteiras claras
→ Markers sintéticos ficam sobre ovos reais → encoder aprende features corretas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3246120"/>
            <a:ext cx="4160520" cy="1508760"/>
          </a:xfrm>
          <a:prstGeom prst="rect">
            <a:avLst/>
          </a:prstGeom>
          <a:solidFill>
            <a:srgbClr val="FDF0F0"/>
          </a:solidFill>
          <a:ln w="127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3273552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DC3C3C"/>
                </a:solidFill>
              </a:rPr>
              <a:t>❌ Margin seleciona imagens DIFUSAS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66160"/>
            <a:ext cx="39319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• 001077: saliency difuso em muitas regiões
• 000513: resposta uniforme, sem estrutura de ovo
• 000218: predições espalhadas sem foco
→ Markers sintéticos aleatórios → encoder não aprende nada → Fβ = 0.479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3657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9E795"/>
                </a:solidFill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9728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Por que Margin e Least Confidence Colapsam?</a:t>
            </a:r>
          </a:p>
        </p:txBody>
      </p:sp>
      <p:pic>
        <p:nvPicPr>
          <p:cNvPr id="5" name="Picture 4" descr="hi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0080"/>
            <a:ext cx="886968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7160" y="3474720"/>
            <a:ext cx="886968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0D1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3502152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</a:rPr>
              <a:t>Causa raiz: Saliency maps FLIM são bimodais (maioria dos pixels em 0 ou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822191"/>
            <a:ext cx="2743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28090"/>
                </a:solidFill>
              </a:rPr>
              <a:t>H(p) — entropia:
p≈0 → H=0   p≈1 → H=0   p≈0.5 → H=máx
⇒ Imagens com ovos têm BORDAS com p≈0.5 → H alto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822191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DC3C3C"/>
                </a:solidFill>
              </a:rPr>
              <a:t>1−|2p−1| — margin/LC:
p≈0 → margin=0   p≈1 → margin=0   p≈0.5 → margin=1
⇒ Seleciona imagens onde TUDO é ambíguo (sem estrutura)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822191"/>
            <a:ext cx="2560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Implicação:
FLIM com saliency esparso ⇒ entropy é a função correta.
Margin ≡ Least Confidence neste contexto.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3657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9E795"/>
                </a:solidFill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9728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Region-based AL — Além da Seleção de Imagens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658368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445566"/>
                </a:solidFill>
              </a:rPr>
              <a:t>Em vez de selecionar imagens inteiras, selecionar REGIÕES incertas dentro das imagens → anotação mais eficiente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4206240" cy="1627632"/>
          </a:xfrm>
          <a:prstGeom prst="rect">
            <a:avLst/>
          </a:prstGeom>
          <a:solidFill>
            <a:srgbClr val="F5F7FA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457200" cy="16276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216152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28090"/>
                </a:solidFill>
              </a:rPr>
              <a:t>Superpixels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356616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Dividir a imagem em regiões compactas (SLIC)
~200–500 superpixels por imagem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143000"/>
            <a:ext cx="4206240" cy="1627632"/>
          </a:xfrm>
          <a:prstGeom prst="rect">
            <a:avLst/>
          </a:prstGeom>
          <a:solidFill>
            <a:srgbClr val="F5F7FA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143000"/>
            <a:ext cx="457200" cy="16276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373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216152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</a:rPr>
              <a:t>Score por Região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554480"/>
            <a:ext cx="356616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Score = Entropia média da região no saliency map
Alto score = região incerta = próxima de uma borda de ovo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71800"/>
            <a:ext cx="4206240" cy="1627632"/>
          </a:xfrm>
          <a:prstGeom prst="rect">
            <a:avLst/>
          </a:prstGeom>
          <a:solidFill>
            <a:srgbClr val="F5F7FA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2971800"/>
            <a:ext cx="457200" cy="162763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5661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044952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</a:rPr>
              <a:t>Consulta ao Especialista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356616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Mostrar top-K regiões ao especialista
"Esta região contém ovo?" → sim/não
(simulado com GT masks)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2971800"/>
            <a:ext cx="4206240" cy="1627632"/>
          </a:xfrm>
          <a:prstGeom prst="rect">
            <a:avLst/>
          </a:prstGeom>
          <a:solidFill>
            <a:srgbClr val="F5F7FA"/>
          </a:solidFill>
          <a:ln w="12700">
            <a:solidFill>
              <a:srgbClr val="0D1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9160" y="2971800"/>
            <a:ext cx="457200" cy="16276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5661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044952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D1B3E"/>
                </a:solidFill>
              </a:rPr>
              <a:t>Re-treino FLIM + IoU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383280"/>
            <a:ext cx="356616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45566"/>
                </a:solidFill>
              </a:rPr>
              <a:t>Converter resposta em seeds FLIM
Re-treinar encoder → Avaliar com DT
Métrica: IoU = TP/(TP+FP+FN)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4663440"/>
            <a:ext cx="8686800" cy="384048"/>
          </a:xfrm>
          <a:prstGeom prst="rect">
            <a:avLst/>
          </a:prstGeom>
          <a:solidFill>
            <a:srgbClr val="E0F5F7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700016"/>
            <a:ext cx="83210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0D1B3E"/>
                </a:solidFill>
              </a:rPr>
              <a:t>Diferencial: Seleção de REGIÃO = annotation budget menor + foco nas bordas de ovos (onde o encoder erra mais) → complementa a seleção de imagens por Entropy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Resultados: Region-based AL — Split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CDD"/>
                </a:solidFill>
                <a:latin typeface="Calibri"/>
              </a:rPr>
              <a:t>region_entropy vs Random | labeled_marker decoder | DT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5089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Region-based Active Learning | FLIM Encoder |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595360" cy="35890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23444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930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Método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2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Fβ (AL)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IoU (AL)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Fβ (Rand)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IoU (Rand)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234440"/>
            <a:ext cx="1051560" cy="384048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1289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Δ Fβ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618488"/>
            <a:ext cx="1234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673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Region Entropy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2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80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0.588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0.518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636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1618488"/>
            <a:ext cx="1051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0920" y="167335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873C"/>
                </a:solidFill>
                <a:latin typeface="Calibri"/>
              </a:rPr>
              <a:t>+0.109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002536"/>
            <a:ext cx="123444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057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Region Entropy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452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7180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0.593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6908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0.521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2064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6636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364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002536"/>
            <a:ext cx="1051560" cy="384048"/>
          </a:xfrm>
          <a:prstGeom prst="rect">
            <a:avLst/>
          </a:prstGeom>
          <a:solidFill>
            <a:srgbClr val="E8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60920" y="2057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873C"/>
                </a:solidFill>
                <a:latin typeface="Calibri"/>
              </a:rPr>
              <a:t>+0.114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386584"/>
            <a:ext cx="123444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24414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Region Entropy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7452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2608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7180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873C"/>
                </a:solidFill>
                <a:latin typeface="Calibri"/>
              </a:rPr>
              <a:t>0.763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908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873C"/>
                </a:solidFill>
                <a:latin typeface="Calibri"/>
              </a:rPr>
              <a:t>0.621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6636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0.479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2386584"/>
            <a:ext cx="1051560" cy="384048"/>
          </a:xfrm>
          <a:prstGeom prst="rect">
            <a:avLst/>
          </a:prstGeom>
          <a:solidFill>
            <a:srgbClr val="D0EE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6092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873C"/>
                </a:solidFill>
                <a:latin typeface="Calibri"/>
              </a:rPr>
              <a:t>+0.284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2907792"/>
            <a:ext cx="2926080" cy="4114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29626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Baseline (3 imgs originais):  Fb = 0.713   IoU = 0.590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0" y="2907792"/>
            <a:ext cx="5029200" cy="137160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476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• K=10 supera o baseline (0.763 &gt; 0.713)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94760" y="32735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• IoU confirma: regiao AL identifica ovos com precisao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4760" y="35295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• Random colapsa em Fb=0.479 (sem ovos detectados)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60" y="378561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• Mesmo com seeds so em regioes incertas, FLIM generaliza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Region Entropy vs Entropy — Comparação Direta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CDD"/>
                </a:solidFill>
                <a:latin typeface="Calibri"/>
              </a:rPr>
              <a:t>Mesmas imagens selecionadas, seeds diferentes | Split 1 | DT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5089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Region-based Active Learning | FLIM Encoder |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595360" cy="35890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4023360" cy="4572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7101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Entropy (seeds aleatorios de GT)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822960" cy="685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18288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186537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4444"/>
                </a:solidFill>
                <a:latin typeface="Calibri"/>
              </a:rPr>
              <a:t>Fb = 0.611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822960" cy="685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3464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2697480"/>
            <a:ext cx="3108960" cy="68580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27340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4444"/>
                </a:solidFill>
                <a:latin typeface="Calibri"/>
              </a:rPr>
              <a:t>Fb = 0.631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66160"/>
            <a:ext cx="822960" cy="685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033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356616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360273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4444"/>
                </a:solidFill>
                <a:latin typeface="Calibri"/>
              </a:rPr>
              <a:t>Fb = 0.698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234440"/>
            <a:ext cx="4023360" cy="457200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127101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Region Entropy (seeds de regioes incertas)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1828800"/>
            <a:ext cx="822960" cy="685800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19659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18288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186537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4444"/>
                </a:solidFill>
                <a:latin typeface="Calibri"/>
              </a:rPr>
              <a:t>Fb = 0.588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240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28090"/>
                </a:solidFill>
                <a:latin typeface="Calibri"/>
              </a:rPr>
              <a:t>IoU=0.518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822960" cy="685800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283464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23560" y="2697480"/>
            <a:ext cx="3108960" cy="68580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27340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4444"/>
                </a:solidFill>
                <a:latin typeface="Calibri"/>
              </a:rPr>
              <a:t>Fb = 0.593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28090"/>
                </a:solidFill>
                <a:latin typeface="Calibri"/>
              </a:rPr>
              <a:t>IoU=0.521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3566160"/>
            <a:ext cx="822960" cy="685800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7033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K=10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60" y="356616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15000" y="360273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873C"/>
                </a:solidFill>
                <a:latin typeface="Calibri"/>
              </a:rPr>
              <a:t>Fb = 0.763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0" y="39776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28090"/>
                </a:solidFill>
                <a:latin typeface="Calibri"/>
              </a:rPr>
              <a:t>IoU=0.621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200400"/>
            <a:ext cx="1371600" cy="777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69080" y="32461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A294E"/>
                </a:solidFill>
                <a:latin typeface="Calibri"/>
              </a:rPr>
              <a:t>K=10
+0.065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63440"/>
            <a:ext cx="8229600" cy="68580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736592"/>
            <a:ext cx="7955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Seeds focados em regioes incertas vs seeds aleatorios de GT: Region Entropy supera Entropy puro em K=10 (0.763 vs 0.698)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AL Hierarquico em 2 Estagios — O "Comite"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CDD"/>
                </a:solidFill>
                <a:latin typeface="Calibri"/>
              </a:rPr>
              <a:t>Combinando selecao de imagens e selecao de regioes para maximizar ganho por anotacao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5089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Region-based Active Learning | FLIM Encoder |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595360" cy="35890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606040" cy="34747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52728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ESTAGIO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27632"/>
            <a:ext cx="2606040" cy="438912"/>
          </a:xfrm>
          <a:prstGeom prst="rect">
            <a:avLst/>
          </a:prstGeom>
          <a:solidFill>
            <a:srgbClr val="FFFFFF"/>
          </a:solidFill>
          <a:ln w="317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655064"/>
            <a:ext cx="2459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28090"/>
                </a:solidFill>
                <a:latin typeface="Calibri"/>
              </a:rPr>
              <a:t>Selecao de Imagem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2606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2514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Entropy image-level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Score cada imagem pelo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saliency map do encoder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Top-K imagens selecionadas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Pergunta ao especialista: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"Quais imagens voce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 deseja anotar?"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34840"/>
            <a:ext cx="260604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480560"/>
            <a:ext cx="245973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Fb=0.713 (baseline)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 3 imgs originais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310896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2809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234440"/>
            <a:ext cx="2606040" cy="347472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1252728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ESTAGIO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1627632"/>
            <a:ext cx="2606040" cy="438912"/>
          </a:xfrm>
          <a:prstGeom prst="rect">
            <a:avLst/>
          </a:prstGeom>
          <a:solidFill>
            <a:srgbClr val="FFFFFF"/>
          </a:solidFill>
          <a:ln w="31750">
            <a:solidFill>
              <a:srgbClr val="1B87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9272" y="1655064"/>
            <a:ext cx="2459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873C"/>
                </a:solidFill>
                <a:latin typeface="Calibri"/>
              </a:rPr>
              <a:t>Selecao de Regiao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2103120"/>
            <a:ext cx="2606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2148840"/>
            <a:ext cx="2514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Region Entropy (SLIC)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~300 superpixels/imagem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Score por regiao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Top-20 regioes incertas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Pergunta ao especialista: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"Esta regiao contem ovo?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 SIM ou NAO?"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434840"/>
            <a:ext cx="2606040" cy="868680"/>
          </a:xfrm>
          <a:prstGeom prst="rect">
            <a:avLst/>
          </a:prstGeom>
          <a:solidFill>
            <a:srgbClr val="1B8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9272" y="4480560"/>
            <a:ext cx="245973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Seeds focados em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regioes incertas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9592" y="310896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28090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234440"/>
            <a:ext cx="2606040" cy="347472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1252728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627632"/>
            <a:ext cx="2606040" cy="438912"/>
          </a:xfrm>
          <a:prstGeom prst="rect">
            <a:avLst/>
          </a:prstGeom>
          <a:solidFill>
            <a:srgbClr val="FFFFFF"/>
          </a:solidFill>
          <a:ln w="31750">
            <a:solidFill>
              <a:srgbClr val="0A2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655064"/>
            <a:ext cx="2459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A294E"/>
                </a:solidFill>
                <a:latin typeface="Calibri"/>
              </a:rPr>
              <a:t>Seeds FLIM precisos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2606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148840"/>
            <a:ext cx="2514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Pontos fg/bg gerados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apenas nas regioes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onde o encoder erra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Encoder re-treinado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com seeds de alta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qualidade + precisao</a:t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444444"/>
                </a:solidFill>
                <a:latin typeface="Calibri"/>
              </a:rPr>
              <a:t>  K=10 Split 1: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4434840"/>
            <a:ext cx="2606040" cy="868680"/>
          </a:xfrm>
          <a:prstGeom prst="rect">
            <a:avLst/>
          </a:prstGeom>
          <a:solidFill>
            <a:srgbClr val="0A2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4480560"/>
            <a:ext cx="245973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Fb = 0.763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IoU = 0.621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(+0.065 vs entropy puro)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8229600" cy="5486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440680"/>
            <a:ext cx="7955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Extensao: Comite verdadeiro (BALD por regiao) — N encoders com seeds diferentes votam. Desacordo entre encoders = maxima incerteza = prioridade de anotacao.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Active Learning para FLIM-AD — Segmentação de S. mansoni</dc:title>
  <dc:subject>PptxGenJS Presentation</dc:subject>
  <dc:creator>PptxGenJS</dc:creator>
  <cp:lastModifiedBy>PptxGenJS</cp:lastModifiedBy>
  <cp:revision>1</cp:revision>
  <dcterms:created xsi:type="dcterms:W3CDTF">2026-07-08T18:05:55Z</dcterms:created>
  <dcterms:modified xsi:type="dcterms:W3CDTF">2026-07-08T18:05:55Z</dcterms:modified>
</cp:coreProperties>
</file>